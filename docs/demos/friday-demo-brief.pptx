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3D7A"/>
                </a:solidFill>
              </a:rPr>
              <a:t>EGP Window — Customer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Microsoft Agent Framework port  |  Friday 2026-07-17</a:t>
            </a:r>
          </a:p>
          <a:p>
            <a:r>
              <a:t>Tag: w11-cutover  •  421 tests passing  •  11 workstreams shipped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Elevator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LangGraph prototype ported to Microsoft Agent Framework on Azure.</a:t>
            </a:r>
          </a:p>
          <a:p>
            <a:pPr>
              <a:spcAft>
                <a:spcPts val="600"/>
              </a:spcAft>
              <a:defRPr sz="1800"/>
            </a:pPr>
            <a:r>
              <a:t>• 11/11 workstreams complete; 421 unit tests passing.</a:t>
            </a:r>
          </a:p>
          <a:p>
            <a:pPr>
              <a:spcAft>
                <a:spcPts val="600"/>
              </a:spcAft>
              <a:defRPr sz="1800"/>
            </a:pPr>
            <a:r>
              <a:t>• HTTP surface browsable locally via Swagger UI today (no LLM key needed).</a:t>
            </a:r>
          </a:p>
          <a:p>
            <a:pPr>
              <a:spcAft>
                <a:spcPts val="600"/>
              </a:spcAft>
              <a:defRPr sz="1800"/>
            </a:pPr>
            <a:r>
              <a:t>• Ready for Compass key + Azure subscription to move stub → live.</a:t>
            </a:r>
          </a:p>
          <a:p>
            <a:pPr>
              <a:spcAft>
                <a:spcPts val="600"/>
              </a:spcAft>
              <a:defRPr sz="1800"/>
            </a:pPr>
            <a:r>
              <a:t>• 6 open questions await M42 answers (see epg-maf/docs/blockers.md).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Agenda (30–45 min)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2865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 problem &amp; why MAF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Architecture overview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Live demo (Swagger UI)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MAF components we use &amp; why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Parallel vs. sequential dispatch toggle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Shipped vs. blocked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What we need from M42 (Q&amp;A)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Clinical genomics decision-support agent — one patient per session.</a:t>
            </a:r>
          </a:p>
          <a:p>
            <a:pPr>
              <a:spcAft>
                <a:spcPts val="600"/>
              </a:spcAft>
              <a:defRPr sz="1800"/>
            </a:pPr>
            <a:r>
              <a:t>• Route to the right specialist(s): PRS, Variants, Family History, PGx, Phenotype.</a:t>
            </a:r>
          </a:p>
          <a:p>
            <a:pPr>
              <a:spcAft>
                <a:spcPts val="600"/>
              </a:spcAft>
              <a:defRPr sz="1800"/>
            </a:pPr>
            <a:r>
              <a:t>• Call tools against curated clinical DB (Postgres prod / DuckDB seed).</a:t>
            </a:r>
          </a:p>
          <a:p>
            <a:pPr>
              <a:spcAft>
                <a:spcPts val="600"/>
              </a:spcAft>
              <a:defRPr sz="1800"/>
            </a:pPr>
            <a:r>
              <a:t>• Synthesise clinically defensible answer with structured provenance.</a:t>
            </a:r>
          </a:p>
          <a:p>
            <a:pPr>
              <a:spcAft>
                <a:spcPts val="600"/>
              </a:spcAft>
              <a:defRPr sz="1800"/>
            </a:pPr>
            <a:r>
              <a:t>• Enforce single-patient scope, PHI redaction, auditable trail.</a:t>
            </a:r>
          </a:p>
          <a:p>
            <a:pPr>
              <a:spcAft>
                <a:spcPts val="600"/>
              </a:spcAft>
              <a:defRPr sz="1800"/>
            </a:pPr>
            <a:r>
              <a:t>• Prototype: LangGraph — no auth, no observability, no resilience, no prod topology.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Architecture — Runtime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Client → Azure Front Door (WAF)</a:t>
            </a:r>
          </a:p>
          <a:p>
            <a:pPr>
              <a:spcAft>
                <a:spcPts val="600"/>
              </a:spcAft>
              <a:defRPr sz="1800"/>
            </a:pPr>
            <a:r>
              <a:t>• → APIM (retry + circuit-breaker)</a:t>
            </a:r>
          </a:p>
          <a:p>
            <a:pPr>
              <a:spcAft>
                <a:spcPts val="600"/>
              </a:spcAft>
              <a:defRPr sz="1800"/>
            </a:pPr>
            <a:r>
              <a:t>• → Container Apps (FastAPI create_app)</a:t>
            </a:r>
          </a:p>
          <a:p>
            <a:pPr>
              <a:spcAft>
                <a:spcPts val="600"/>
              </a:spcAft>
              <a:defRPr sz="1800"/>
            </a:pPr>
            <a:r>
              <a:t>• → auth → workflow_runtime.run</a:t>
            </a:r>
          </a:p>
          <a:p>
            <a:pPr>
              <a:spcAft>
                <a:spcPts val="600"/>
              </a:spcAft>
              <a:defRPr sz="1800"/>
            </a:pPr>
            <a:r>
              <a:t>•    ChatWorkflow → OrchestrationWorkflow (loop, budget=12)</a:t>
            </a:r>
          </a:p>
          <a:p>
            <a:pPr>
              <a:spcAft>
                <a:spcPts val="600"/>
              </a:spcAft>
              <a:defRPr sz="1800"/>
            </a:pPr>
            <a:r>
              <a:t>• → 5 specialists → repositories</a:t>
            </a:r>
          </a:p>
          <a:p>
            <a:pPr>
              <a:spcAft>
                <a:spcPts val="600"/>
              </a:spcAft>
              <a:defRPr sz="1800"/>
            </a:pPr>
            <a:r>
              <a:t>• Data plane: Postgres Flexible + Cosmos DB + Key Vault + Compass + Foundry</a:t>
            </a:r>
          </a:p>
          <a:p>
            <a:pPr>
              <a:spcAft>
                <a:spcPts val="600"/>
              </a:spcAft>
              <a:defRPr sz="1800"/>
            </a:pPr>
            <a:r>
              <a:t>• Telemetry: App Insights + Log Analytics (7 span kinds, 10 KPI metrics)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Specialists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8382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Specialist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Result schema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PRS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Polygenic risk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PRSResultList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Genomic 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Variant calls + annotations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VariantResultList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Family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NCCN / Amsterdam II criteria (redacted)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FamilyHistoryResultList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PGx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Drug–gene interactions (CPIC)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PGXResultList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200"/>
                        <a:t>Phenotype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HPO / MONDO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PhenotypeResultList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MAF Components &amp;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Executor + WorkflowContext — every node is typed, replayable, unit-testable.</a:t>
            </a:r>
          </a:p>
          <a:p>
            <a:pPr>
              <a:spcAft>
                <a:spcPts val="600"/>
              </a:spcAft>
              <a:defRPr sz="1800"/>
            </a:pPr>
            <a:r>
              <a:t>• Pydantic decisions (extra='forbid') — every hand-off validated at boundary.</a:t>
            </a:r>
          </a:p>
          <a:p>
            <a:pPr>
              <a:spcAft>
                <a:spcPts val="600"/>
              </a:spcAft>
              <a:defRPr sz="1800"/>
            </a:pPr>
            <a:r>
              <a:t>• DI Container — one factory wires prod + tests + smoke server identically.</a:t>
            </a:r>
          </a:p>
          <a:p>
            <a:pPr>
              <a:spcAft>
                <a:spcPts val="600"/>
              </a:spcAft>
              <a:defRPr sz="1800"/>
            </a:pPr>
            <a:r>
              <a:t>• OpenTelemetry — 7 span kinds, 10 metrics, PHI-safe attribute allowlist.</a:t>
            </a:r>
          </a:p>
          <a:p>
            <a:pPr>
              <a:spcAft>
                <a:spcPts val="600"/>
              </a:spcAft>
              <a:defRPr sz="1800"/>
            </a:pPr>
            <a:r>
              <a:t>• Resilience — typed errors, RetryingSpecialistLlm, specialist isolation.</a:t>
            </a:r>
          </a:p>
          <a:p>
            <a:pPr>
              <a:spcAft>
                <a:spcPts val="600"/>
              </a:spcAft>
              <a:defRPr sz="1800"/>
            </a:pPr>
            <a:r>
              <a:t>• Auth — Entra JWT (prod) / StubAuthenticator (dev), AuditEvent per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Parallel vs. Sequential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Setting: ORCH_DISPATCH_MODE = sequential | parallel</a:t>
            </a:r>
          </a:p>
          <a:p>
            <a:pPr>
              <a:spcAft>
                <a:spcPts val="600"/>
              </a:spcAft>
              <a:defRPr sz="1800"/>
            </a:pPr>
            <a:r>
              <a:t>• Companion: ORCH_MAX_FANOUT_WIDTH — caps concurrent specialists</a:t>
            </a:r>
          </a:p>
          <a:p>
            <a:pPr>
              <a:spcAft>
                <a:spcPts val="600"/>
              </a:spcAft>
              <a:defRPr sz="1800"/>
            </a:pPr>
            <a:r>
              <a:t>• Sequential (default): one specialist per iteration; safe, cost-linear.</a:t>
            </a:r>
          </a:p>
          <a:p>
            <a:pPr>
              <a:spcAft>
                <a:spcPts val="600"/>
              </a:spcAft>
              <a:defRPr sz="1800"/>
            </a:pPr>
            <a:r>
              <a:t>• Parallel: independent set per iteration; faster wall-clock, higher peak cost.</a:t>
            </a:r>
          </a:p>
          <a:p>
            <a:pPr>
              <a:spcAft>
                <a:spcPts val="600"/>
              </a:spcAft>
              <a:defRPr sz="1800"/>
            </a:pPr>
            <a:r>
              <a:t>• Router downgrades parallel decisions in sequential mode with a warning.</a:t>
            </a:r>
          </a:p>
          <a:p>
            <a:pPr>
              <a:spcAft>
                <a:spcPts val="600"/>
              </a:spcAft>
              <a:defRPr sz="1800"/>
            </a:pPr>
            <a:r>
              <a:t>• Toggle in prod: change bicepparam → redeploy, OR Container App env var + restart.</a:t>
            </a:r>
          </a:p>
          <a:p>
            <a:pPr>
              <a:spcAft>
                <a:spcPts val="600"/>
              </a:spcAft>
              <a:defRPr sz="1800"/>
            </a:pPr>
            <a:r>
              <a:t>• Every log line carries orch.mode + orch.width for dashboard partitioning.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Shipped: 11/11 Workstreams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91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WS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Title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Highlights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DI, PG pool, Cosmos, structured logs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Clinical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Schema, seed, repos, authz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Repositories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 repos, 14 tools, FH privacy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Chat + orchestration, routing, budget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Specialists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 agents + provenance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Mode parity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Sequential ↔ parallel parity tests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Entra JWT + AuditEvent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OTEL, spans, metrics, PHI allowlist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Errors + retry + isolation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Golden set, scorers, PHI CI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/>
                        <a:t>W11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Cutover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APIM, alerts, dashboards, runbooks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Open Blockers (need M42 answers)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18457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Blocker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Blocks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B-001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PRS 'EGP-evaluated'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Gap 3 disclosure logic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B-002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Identity &amp; session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Session-pinning + refusal copy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B-003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Patient identifier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ScopeGuard regex coverage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B-004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Approved refusal wording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Golden-set assertion strings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200"/>
                        <a:t>B-005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Session lifecycle + 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TTL sizing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200"/>
                        <a:t>B-006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Audit sink + alert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Sev-3 alert rule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Golden-Dataset Gap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Gap 1: Single-patient scope guardrail (G1–G5) — design ready, blocked on B-002/B-003/B-004.</a:t>
            </a:r>
          </a:p>
          <a:p>
            <a:pPr>
              <a:spcAft>
                <a:spcPts val="600"/>
              </a:spcAft>
              <a:defRPr sz="1800"/>
            </a:pPr>
            <a:r>
              <a:t>• Gap 2: Annotation vs. patient-scan (G6–G9) — prompt rule + repo lint test; no external blocker.</a:t>
            </a:r>
          </a:p>
          <a:p>
            <a:pPr>
              <a:spcAft>
                <a:spcPts val="600"/>
              </a:spcAft>
              <a:defRPr sz="1800"/>
            </a:pPr>
            <a:r>
              <a:t>• Gap 3: 'Not EGP-evaluated' PRS disclosure (S4, R5) — blocked on B-001 schema question.</a:t>
            </a:r>
          </a:p>
          <a:p>
            <a:pPr>
              <a:spcAft>
                <a:spcPts val="600"/>
              </a:spcAft>
              <a:defRPr sz="1800"/>
            </a:pPr>
            <a:r>
              <a:t>• Golden set has 43 items (BIX-drafted); real BIX review still pending.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Live Demo — Swagger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Setup: cd epg-maf &amp;&amp; .\.venv\Scripts\python.exe scripts\serve_smoke.py</a:t>
            </a:r>
          </a:p>
          <a:p>
            <a:pPr>
              <a:spcAft>
                <a:spcPts val="600"/>
              </a:spcAft>
              <a:defRPr sz="1800"/>
            </a:pPr>
            <a:r>
              <a:t>• GET  http://127.0.0.1:8000/healthz  → 200 OK</a:t>
            </a:r>
          </a:p>
          <a:p>
            <a:pPr>
              <a:spcAft>
                <a:spcPts val="600"/>
              </a:spcAft>
              <a:defRPr sz="1800"/>
            </a:pPr>
            <a:r>
              <a:t>• Open http://127.0.0.1:8000/docs  → click Authorize</a:t>
            </a:r>
          </a:p>
          <a:p>
            <a:pPr>
              <a:spcAft>
                <a:spcPts val="600"/>
              </a:spcAft>
              <a:defRPr sz="1800"/>
            </a:pPr>
            <a:r>
              <a:t>• Token: {"oid":"demo","tid":"demo","roles":["Clinician"],"exp":9999999999}</a:t>
            </a:r>
          </a:p>
          <a:p>
            <a:pPr>
              <a:spcAft>
                <a:spcPts val="600"/>
              </a:spcAft>
              <a:defRPr sz="1800"/>
            </a:pPr>
            <a:r>
              <a:t>• Body: {"thread_id":"T-demo","patient_id":"P001","message":"What PRS…?"}</a:t>
            </a:r>
          </a:p>
          <a:p>
            <a:pPr>
              <a:spcAft>
                <a:spcPts val="600"/>
              </a:spcAft>
              <a:defRPr sz="1800"/>
            </a:pPr>
            <a:r>
              <a:t>• → populated prs + pgx slots + synthesised reply.</a:t>
            </a:r>
          </a:p>
          <a:p>
            <a:pPr>
              <a:spcAft>
                <a:spcPts val="600"/>
              </a:spcAft>
              <a:defRPr sz="1800"/>
            </a:pPr>
            <a:r>
              <a:t>• Show logs: chat_router.decided → orch_router.dispatched → joiner → terminal → synthesise.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Likely Q&amp;A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2865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</a:rPr>
                        <a:t>Short answer</a:t>
                      </a:r>
                    </a:p>
                  </a:txBody>
                  <a:tcPr>
                    <a:solidFill>
                      <a:srgbClr val="0F3D7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Why MAF over LangGraph?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Azure-native, typed, testable, observable, Foundry-ready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Cost profile?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Iteration budget=12 + fanout width; sequential is cost-linear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PHI risk?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Attribute allowlist + CI grep + FH redaction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Specialist failure?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Isolated slot; other specialists + reply still return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Rollback?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cutover.md — idempotent, 30s target via revision swap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Real LLM demo?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Immediately after Compass key + Azure subscription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/>
                        <a:t>What is NOT built?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Prod deploy; Foundry judge; BIX-approved 30–50 golden items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3D7A"/>
                </a:solidFill>
              </a:rPr>
              <a:t>Post-Demo Close &amp;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• Deliver blocker list — ask for a single point-of-contact per blocker.</a:t>
            </a:r>
          </a:p>
          <a:p>
            <a:pPr>
              <a:spcAft>
                <a:spcPts val="600"/>
              </a:spcAft>
              <a:defRPr sz="1800"/>
            </a:pPr>
            <a:r>
              <a:t>• Compass subscription key — when?</a:t>
            </a:r>
          </a:p>
          <a:p>
            <a:pPr>
              <a:spcAft>
                <a:spcPts val="600"/>
              </a:spcAft>
              <a:defRPr sz="1800"/>
            </a:pPr>
            <a:r>
              <a:t>• Azure subscription onboarding target date?</a:t>
            </a:r>
          </a:p>
          <a:p>
            <a:pPr>
              <a:spcAft>
                <a:spcPts val="600"/>
              </a:spcAft>
              <a:defRPr sz="1800"/>
            </a:pPr>
            <a:r>
              <a:t>• BIX reviewer commitment to the 43-item golden set — when?</a:t>
            </a:r>
          </a:p>
          <a:p>
            <a:pPr>
              <a:spcAft>
                <a:spcPts val="600"/>
              </a:spcAft>
              <a:defRPr sz="1800"/>
            </a:pPr>
            <a:r>
              <a:t>• Schedule follow-up walk-through once B-001 to B-006 are unblocked.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0F3D7A"/>
                </a:solidFill>
              </a:rPr>
              <a:t>See docs/demos/friday-demo-brief.md for the full narrative.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3D7A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Repo: https://github.com/nandyap/EPG-MAF   |   Tag: w11-cutover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